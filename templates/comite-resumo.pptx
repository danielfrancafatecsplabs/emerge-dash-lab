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90" r:id="rId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A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19DCD-1689-46F4-A459-F81541ADCE47}" v="195" dt="2026-10-02T05:57:20.094"/>
    <p1510:client id="{DA7C1FF2-42A4-46BF-8C48-9880CD0544BC}" v="39" dt="2026-10-02T20:17:59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32" Type="http://schemas.microsoft.com/office/2015/10/relationships/revisionInfo" Target="revisionInfo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91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05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beonlabs.invalid/semanal#semanal-aguardando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hyperlink" Target="https://beonlabs.invalid/semanal#semanal-andamento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hyperlink" Target="https://beonlabs.invalid/semanal#semanal-backlog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s://beonlabs.invalid/semanal#semanal-escala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hyperlink" Target="https://beonlabs.invalid/semanal#semanal-piloto" TargetMode="Externa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8610" y="224023"/>
            <a:ext cx="2259141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beOn</a:t>
            </a:r>
            <a:r>
              <a:rPr lang="en-US" sz="225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Labs</a:t>
            </a:r>
            <a:endParaRPr lang="en-US" sz="2250"/>
          </a:p>
        </p:txBody>
      </p:sp>
      <p:pic>
        <p:nvPicPr>
          <p:cNvPr id="4" name="Image 0" descr="/home/user/emerge-dash-lab/public/logobeonl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221" y="249269"/>
            <a:ext cx="662940" cy="3154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8609" y="641953"/>
            <a:ext cx="6642571" cy="74066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6" name="Shape 3"/>
          <p:cNvSpPr/>
          <p:nvPr/>
        </p:nvSpPr>
        <p:spPr>
          <a:xfrm>
            <a:off x="486918" y="854551"/>
            <a:ext cx="315468" cy="315468"/>
          </a:xfrm>
          <a:prstGeom prst="ellipse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 sz="13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40" y="936573"/>
            <a:ext cx="151425" cy="1514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2114" y="724249"/>
            <a:ext cx="11658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2550"/>
          </a:p>
        </p:txBody>
      </p:sp>
      <p:sp>
        <p:nvSpPr>
          <p:cNvPr id="9" name="Text 5"/>
          <p:cNvSpPr txBox="1"/>
          <p:nvPr/>
        </p:nvSpPr>
        <p:spPr>
          <a:xfrm>
            <a:off x="912114" y="1108297"/>
            <a:ext cx="13030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</a:t>
            </a:r>
            <a:r>
              <a:rPr lang="en-US" sz="788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</a:t>
            </a:r>
            <a:r>
              <a:rPr lang="en-US" sz="6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88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no </a:t>
            </a:r>
            <a:r>
              <a:rPr lang="en-US" sz="788" err="1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beOn</a:t>
            </a:r>
            <a:r>
              <a:rPr lang="en-US" sz="788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 Labs</a:t>
            </a:r>
          </a:p>
        </p:txBody>
      </p:sp>
      <p:sp>
        <p:nvSpPr>
          <p:cNvPr id="10" name="Shape 6"/>
          <p:cNvSpPr/>
          <p:nvPr/>
        </p:nvSpPr>
        <p:spPr>
          <a:xfrm>
            <a:off x="2084832" y="765397"/>
            <a:ext cx="0" cy="49377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136" name="Composicao 4"/>
          <p:cNvSpPr/>
          <p:nvPr/>
        </p:nvSpPr>
        <p:spPr>
          <a:xfrm>
            <a:off x="2976174" y="827119"/>
            <a:ext cx="89154" cy="89154"/>
          </a:xfrm>
          <a:prstGeom prst="ellipse">
            <a:avLst/>
          </a:prstGeom>
          <a:solidFill>
            <a:srgbClr val="E57373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37" name="Composicao 5"/>
          <p:cNvSpPr txBox="1"/>
          <p:nvPr/>
        </p:nvSpPr>
        <p:spPr>
          <a:xfrm>
            <a:off x="3089260" y="741946"/>
            <a:ext cx="71478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8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8%</a:t>
            </a:r>
            <a:endParaRPr lang="en-US"/>
          </a:p>
        </p:txBody>
      </p:sp>
      <p:sp>
        <p:nvSpPr>
          <p:cNvPr id="138" name="Composicao 6"/>
          <p:cNvSpPr txBox="1"/>
          <p:nvPr/>
        </p:nvSpPr>
        <p:spPr>
          <a:xfrm>
            <a:off x="3060232" y="1024083"/>
            <a:ext cx="7147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Em andamento</a:t>
            </a:r>
            <a:endParaRPr lang="en-US" sz="700"/>
          </a:p>
        </p:txBody>
      </p:sp>
      <p:sp>
        <p:nvSpPr>
          <p:cNvPr id="139" name="Composicao 7"/>
          <p:cNvSpPr/>
          <p:nvPr/>
        </p:nvSpPr>
        <p:spPr>
          <a:xfrm>
            <a:off x="4011061" y="827119"/>
            <a:ext cx="89154" cy="89154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40" name="Composicao 8"/>
          <p:cNvSpPr txBox="1"/>
          <p:nvPr/>
        </p:nvSpPr>
        <p:spPr>
          <a:xfrm>
            <a:off x="4168575" y="724249"/>
            <a:ext cx="60485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6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r>
              <a:rPr lang="en-US" sz="7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19%</a:t>
            </a:r>
            <a:endParaRPr lang="en-US" sz="1650"/>
          </a:p>
        </p:txBody>
      </p:sp>
      <p:sp>
        <p:nvSpPr>
          <p:cNvPr id="142" name="Composicao 10"/>
          <p:cNvSpPr/>
          <p:nvPr/>
        </p:nvSpPr>
        <p:spPr>
          <a:xfrm>
            <a:off x="5034373" y="838250"/>
            <a:ext cx="89154" cy="89154"/>
          </a:xfrm>
          <a:prstGeom prst="ellipse">
            <a:avLst/>
          </a:prstGeom>
          <a:solidFill>
            <a:srgbClr val="C4C7CE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43" name="Composicao 11"/>
          <p:cNvSpPr txBox="1"/>
          <p:nvPr/>
        </p:nvSpPr>
        <p:spPr>
          <a:xfrm>
            <a:off x="6219293" y="735380"/>
            <a:ext cx="60485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6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r>
              <a:rPr lang="en-US" sz="7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41%</a:t>
            </a:r>
            <a:endParaRPr lang="en-US" sz="1650"/>
          </a:p>
        </p:txBody>
      </p:sp>
      <p:sp>
        <p:nvSpPr>
          <p:cNvPr id="144" name="Composicao 12"/>
          <p:cNvSpPr txBox="1"/>
          <p:nvPr/>
        </p:nvSpPr>
        <p:spPr>
          <a:xfrm>
            <a:off x="6219293" y="1023416"/>
            <a:ext cx="6048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Cancelados</a:t>
            </a:r>
            <a:endParaRPr lang="en-US" sz="750"/>
          </a:p>
        </p:txBody>
      </p:sp>
      <p:sp>
        <p:nvSpPr>
          <p:cNvPr id="146" name="Composicao 14"/>
          <p:cNvSpPr txBox="1"/>
          <p:nvPr/>
        </p:nvSpPr>
        <p:spPr>
          <a:xfrm>
            <a:off x="5175881" y="737571"/>
            <a:ext cx="5407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6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r>
              <a:rPr lang="en-US" sz="7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28%</a:t>
            </a:r>
            <a:endParaRPr lang="en-US" sz="1650"/>
          </a:p>
        </p:txBody>
      </p:sp>
      <p:sp>
        <p:nvSpPr>
          <p:cNvPr id="147" name="Composicao 15"/>
          <p:cNvSpPr txBox="1"/>
          <p:nvPr/>
        </p:nvSpPr>
        <p:spPr>
          <a:xfrm>
            <a:off x="5047866" y="1043303"/>
            <a:ext cx="875224" cy="183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Hipóteses refutadas</a:t>
            </a:r>
            <a:endParaRPr lang="en-US" sz="750"/>
          </a:p>
        </p:txBody>
      </p:sp>
      <p:sp>
        <p:nvSpPr>
          <p:cNvPr id="148" name="Composicao 16"/>
          <p:cNvSpPr/>
          <p:nvPr/>
        </p:nvSpPr>
        <p:spPr>
          <a:xfrm>
            <a:off x="2994074" y="1237647"/>
            <a:ext cx="828000" cy="68579"/>
          </a:xfrm>
          <a:prstGeom prst="rect">
            <a:avLst/>
          </a:prstGeom>
          <a:solidFill>
            <a:srgbClr val="F2B8B8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50" name="Composicao 18"/>
          <p:cNvSpPr/>
          <p:nvPr/>
        </p:nvSpPr>
        <p:spPr>
          <a:xfrm>
            <a:off x="3927412" y="1243584"/>
            <a:ext cx="1008000" cy="72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51" name="Composicao 19"/>
          <p:cNvSpPr/>
          <p:nvPr/>
        </p:nvSpPr>
        <p:spPr>
          <a:xfrm>
            <a:off x="5021016" y="1238553"/>
            <a:ext cx="864000" cy="64835"/>
          </a:xfrm>
          <a:prstGeom prst="rect">
            <a:avLst/>
          </a:prstGeom>
          <a:solidFill>
            <a:srgbClr val="C4C7CE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52" name="Composicao 20"/>
          <p:cNvSpPr/>
          <p:nvPr/>
        </p:nvSpPr>
        <p:spPr>
          <a:xfrm>
            <a:off x="5996739" y="1237685"/>
            <a:ext cx="900000" cy="68580"/>
          </a:xfrm>
          <a:prstGeom prst="rect">
            <a:avLst/>
          </a:prstGeom>
          <a:solidFill>
            <a:srgbClr val="6B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23" name="Shape 19"/>
          <p:cNvSpPr/>
          <p:nvPr/>
        </p:nvSpPr>
        <p:spPr>
          <a:xfrm>
            <a:off x="7048296" y="641953"/>
            <a:ext cx="1786865" cy="740664"/>
          </a:xfrm>
          <a:prstGeom prst="roundRect">
            <a:avLst>
              <a:gd name="adj" fmla="val 8333"/>
            </a:avLst>
          </a:prstGeom>
          <a:solidFill>
            <a:srgbClr val="1F1F1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24" name="Text 20"/>
          <p:cNvSpPr txBox="1"/>
          <p:nvPr/>
        </p:nvSpPr>
        <p:spPr>
          <a:xfrm>
            <a:off x="7112036" y="711956"/>
            <a:ext cx="1936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R$ 416 milhões</a:t>
            </a:r>
            <a:endParaRPr lang="en-US" sz="1200"/>
          </a:p>
        </p:txBody>
      </p:sp>
      <p:sp>
        <p:nvSpPr>
          <p:cNvPr id="25" name="Text 21"/>
          <p:cNvSpPr txBox="1"/>
          <p:nvPr/>
        </p:nvSpPr>
        <p:spPr>
          <a:xfrm>
            <a:off x="7119050" y="987698"/>
            <a:ext cx="2189759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potencial total</a:t>
            </a:r>
            <a:endParaRPr lang="en-US" sz="788"/>
          </a:p>
        </p:txBody>
      </p:sp>
      <p:sp>
        <p:nvSpPr>
          <p:cNvPr id="26" name="Text 22"/>
          <p:cNvSpPr txBox="1"/>
          <p:nvPr/>
        </p:nvSpPr>
        <p:spPr>
          <a:xfrm>
            <a:off x="7113112" y="1178300"/>
            <a:ext cx="2313203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Concedido pelas áreas de negócio para </a:t>
            </a:r>
            <a:r>
              <a:rPr lang="en-US" sz="600" err="1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r>
              <a:rPr lang="en-US" sz="60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60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60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experimentos</a:t>
            </a:r>
            <a:endParaRPr lang="en-US" sz="600"/>
          </a:p>
        </p:txBody>
      </p:sp>
      <p:sp>
        <p:nvSpPr>
          <p:cNvPr id="27" name="Shape 23"/>
          <p:cNvSpPr/>
          <p:nvPr/>
        </p:nvSpPr>
        <p:spPr>
          <a:xfrm>
            <a:off x="8409965" y="717895"/>
            <a:ext cx="274320" cy="274320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289" y="789219"/>
            <a:ext cx="131674" cy="13167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08611" y="1569322"/>
            <a:ext cx="2103947" cy="548953"/>
          </a:xfrm>
          <a:prstGeom prst="homePlate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31" name="Shape 26"/>
          <p:cNvSpPr/>
          <p:nvPr/>
        </p:nvSpPr>
        <p:spPr>
          <a:xfrm>
            <a:off x="445770" y="1737455"/>
            <a:ext cx="219456" cy="219456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32" name="Text 27"/>
          <p:cNvSpPr txBox="1"/>
          <p:nvPr/>
        </p:nvSpPr>
        <p:spPr>
          <a:xfrm>
            <a:off x="445770" y="173110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33" name="Text 28"/>
          <p:cNvSpPr txBox="1"/>
          <p:nvPr/>
        </p:nvSpPr>
        <p:spPr>
          <a:xfrm>
            <a:off x="761239" y="1702149"/>
            <a:ext cx="145389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Exploração</a:t>
            </a:r>
            <a:endParaRPr lang="en-US" sz="975"/>
          </a:p>
          <a:p>
            <a:r>
              <a:rPr lang="pt-BR" sz="800"/>
              <a:t>Entender e validar o problema, o benefício potencial e definir as bases para experimentação​ </a:t>
            </a:r>
          </a:p>
        </p:txBody>
      </p:sp>
      <p:sp>
        <p:nvSpPr>
          <p:cNvPr id="34" name="Shape 29"/>
          <p:cNvSpPr/>
          <p:nvPr/>
        </p:nvSpPr>
        <p:spPr>
          <a:xfrm>
            <a:off x="2215134" y="1566437"/>
            <a:ext cx="2157353" cy="561162"/>
          </a:xfrm>
          <a:prstGeom prst="chevron">
            <a:avLst/>
          </a:prstGeom>
          <a:solidFill>
            <a:srgbClr val="F7C6C6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35" name="Shape 30"/>
          <p:cNvSpPr/>
          <p:nvPr/>
        </p:nvSpPr>
        <p:spPr>
          <a:xfrm>
            <a:off x="2567751" y="1724755"/>
            <a:ext cx="219456" cy="219456"/>
          </a:xfrm>
          <a:prstGeom prst="ellipse">
            <a:avLst/>
          </a:prstGeom>
          <a:solidFill>
            <a:srgbClr val="6B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36" name="Text 31"/>
          <p:cNvSpPr txBox="1"/>
          <p:nvPr/>
        </p:nvSpPr>
        <p:spPr>
          <a:xfrm>
            <a:off x="2567751" y="172475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37" name="Text 32"/>
          <p:cNvSpPr txBox="1"/>
          <p:nvPr/>
        </p:nvSpPr>
        <p:spPr>
          <a:xfrm>
            <a:off x="2851470" y="1708499"/>
            <a:ext cx="135788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6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Experimentação</a:t>
            </a:r>
            <a:endParaRPr lang="en-US" sz="800"/>
          </a:p>
          <a:p>
            <a:r>
              <a:rPr lang="pt-BR" sz="800"/>
              <a:t>Testar hipóteses rapidamente para gerar evidências e reduzir incertezas.</a:t>
            </a:r>
            <a:r>
              <a:rPr lang="pt-BR" sz="975"/>
              <a:t>​</a:t>
            </a:r>
            <a:endParaRPr lang="en-US" sz="975"/>
          </a:p>
        </p:txBody>
      </p:sp>
      <p:sp>
        <p:nvSpPr>
          <p:cNvPr id="38" name="Shape 33"/>
          <p:cNvSpPr/>
          <p:nvPr/>
        </p:nvSpPr>
        <p:spPr>
          <a:xfrm>
            <a:off x="4209352" y="1572101"/>
            <a:ext cx="2905911" cy="552712"/>
          </a:xfrm>
          <a:prstGeom prst="chevron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39" name="Shape 34"/>
          <p:cNvSpPr/>
          <p:nvPr/>
        </p:nvSpPr>
        <p:spPr>
          <a:xfrm>
            <a:off x="4578481" y="1750155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40" name="Text 35"/>
          <p:cNvSpPr txBox="1"/>
          <p:nvPr/>
        </p:nvSpPr>
        <p:spPr>
          <a:xfrm>
            <a:off x="4578481" y="175015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41" name="Text 36"/>
          <p:cNvSpPr txBox="1"/>
          <p:nvPr/>
        </p:nvSpPr>
        <p:spPr>
          <a:xfrm>
            <a:off x="4849500" y="1683099"/>
            <a:ext cx="2050117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Piloto</a:t>
            </a:r>
            <a:endParaRPr lang="en-US" sz="1050"/>
          </a:p>
          <a:p>
            <a:r>
              <a:rPr lang="en-US" sz="80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Aguardando e </a:t>
            </a:r>
            <a:r>
              <a:rPr lang="en-US" sz="800" err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em</a:t>
            </a:r>
            <a:r>
              <a:rPr lang="en-US" sz="80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800" err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execução</a:t>
            </a:r>
            <a:r>
              <a:rPr lang="en-US" sz="80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. </a:t>
            </a:r>
            <a:r>
              <a:rPr lang="pt-BR" sz="80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Validar solução em ambiente controlado e confirmar seu potencial de escala.​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6951180" y="1574887"/>
            <a:ext cx="2006815" cy="552712"/>
          </a:xfrm>
          <a:prstGeom prst="chevron">
            <a:avLst/>
          </a:prstGeom>
          <a:solidFill>
            <a:srgbClr val="6B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43" name="Shape 38"/>
          <p:cNvSpPr/>
          <p:nvPr/>
        </p:nvSpPr>
        <p:spPr>
          <a:xfrm>
            <a:off x="7238706" y="1750155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44" name="Text 39"/>
          <p:cNvSpPr txBox="1"/>
          <p:nvPr/>
        </p:nvSpPr>
        <p:spPr>
          <a:xfrm>
            <a:off x="7238706" y="174380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6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45" name="Text 40"/>
          <p:cNvSpPr txBox="1"/>
          <p:nvPr/>
        </p:nvSpPr>
        <p:spPr>
          <a:xfrm>
            <a:off x="7483513" y="1587587"/>
            <a:ext cx="1382306" cy="47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</a:t>
            </a:r>
            <a:r>
              <a:rPr lang="en-US" sz="800" b="1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800" b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pt-BR" sz="700">
                <a:solidFill>
                  <a:schemeClr val="bg1"/>
                </a:solidFill>
              </a:rPr>
              <a:t>Operar, evoluir e ampliar a adoção da solução, maximizando a geração de valor para o negócio.​</a:t>
            </a:r>
            <a:endParaRPr lang="en-US" sz="100">
              <a:solidFill>
                <a:schemeClr val="bg1"/>
              </a:solidFill>
            </a:endParaRPr>
          </a:p>
        </p:txBody>
      </p:sp>
      <p:sp>
        <p:nvSpPr>
          <p:cNvPr id="46" name="Shape 41"/>
          <p:cNvSpPr/>
          <p:nvPr/>
        </p:nvSpPr>
        <p:spPr>
          <a:xfrm>
            <a:off x="308611" y="2242917"/>
            <a:ext cx="1863917" cy="177360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47" name="Text 42"/>
          <p:cNvSpPr txBox="1"/>
          <p:nvPr/>
        </p:nvSpPr>
        <p:spPr>
          <a:xfrm>
            <a:off x="512978" y="2383957"/>
            <a:ext cx="160468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2250" b="1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2250" b="1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2250" b="1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700" b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</a:t>
            </a:r>
            <a:r>
              <a:rPr lang="en-US" sz="700" b="1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ideias</a:t>
            </a:r>
            <a:r>
              <a:rPr lang="en-US" sz="700" b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b="1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700" b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b="1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avaliadas</a:t>
            </a:r>
            <a:endParaRPr lang="en-US" sz="700" b="1">
              <a:solidFill>
                <a:schemeClr val="bg1">
                  <a:lumMod val="50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2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82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82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2250"/>
          </a:p>
        </p:txBody>
      </p:sp>
      <p:sp>
        <p:nvSpPr>
          <p:cNvPr id="48" name="Shape 43"/>
          <p:cNvSpPr/>
          <p:nvPr/>
        </p:nvSpPr>
        <p:spPr>
          <a:xfrm>
            <a:off x="459487" y="2783935"/>
            <a:ext cx="156216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9" name="Text 44"/>
          <p:cNvSpPr txBox="1"/>
          <p:nvPr/>
        </p:nvSpPr>
        <p:spPr>
          <a:xfrm>
            <a:off x="459487" y="2852515"/>
            <a:ext cx="156216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potencial</a:t>
            </a:r>
            <a:endParaRPr lang="en-US" sz="713"/>
          </a:p>
        </p:txBody>
      </p:sp>
      <p:sp>
        <p:nvSpPr>
          <p:cNvPr id="50" name="Text 45"/>
          <p:cNvSpPr txBox="1"/>
          <p:nvPr/>
        </p:nvSpPr>
        <p:spPr>
          <a:xfrm>
            <a:off x="459487" y="3059525"/>
            <a:ext cx="156216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R$ 5,6 milhões</a:t>
            </a:r>
            <a:endParaRPr lang="en-US" sz="1275"/>
          </a:p>
        </p:txBody>
      </p:sp>
      <p:sp>
        <p:nvSpPr>
          <p:cNvPr id="51" name="Shape 46"/>
          <p:cNvSpPr/>
          <p:nvPr/>
        </p:nvSpPr>
        <p:spPr>
          <a:xfrm>
            <a:off x="459486" y="3481180"/>
            <a:ext cx="205740" cy="205740"/>
          </a:xfrm>
          <a:prstGeom prst="ellipse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 sz="135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78" y="3526721"/>
            <a:ext cx="98756" cy="98756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727272" y="3434173"/>
            <a:ext cx="128784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e priorização de ideias</a:t>
            </a:r>
            <a:endParaRPr lang="en-US" sz="675"/>
          </a:p>
        </p:txBody>
      </p:sp>
      <p:sp>
        <p:nvSpPr>
          <p:cNvPr id="54" name="Shape 48"/>
          <p:cNvSpPr/>
          <p:nvPr/>
        </p:nvSpPr>
        <p:spPr>
          <a:xfrm>
            <a:off x="2268540" y="2242917"/>
            <a:ext cx="1863917" cy="17782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55" name="Text 49"/>
          <p:cNvSpPr txBox="1"/>
          <p:nvPr/>
        </p:nvSpPr>
        <p:spPr>
          <a:xfrm>
            <a:off x="2419416" y="2331307"/>
            <a:ext cx="156216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2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82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experimentos</a:t>
            </a:r>
            <a:endParaRPr lang="en-US" sz="2250"/>
          </a:p>
        </p:txBody>
      </p:sp>
      <p:sp>
        <p:nvSpPr>
          <p:cNvPr id="56" name="Shape 50"/>
          <p:cNvSpPr/>
          <p:nvPr/>
        </p:nvSpPr>
        <p:spPr>
          <a:xfrm>
            <a:off x="2419416" y="2783935"/>
            <a:ext cx="156216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57" name="Text 51"/>
          <p:cNvSpPr txBox="1"/>
          <p:nvPr/>
        </p:nvSpPr>
        <p:spPr>
          <a:xfrm>
            <a:off x="2419416" y="2852515"/>
            <a:ext cx="156216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potencial</a:t>
            </a:r>
            <a:endParaRPr lang="en-US" sz="713"/>
          </a:p>
        </p:txBody>
      </p:sp>
      <p:sp>
        <p:nvSpPr>
          <p:cNvPr id="58" name="Text 52"/>
          <p:cNvSpPr txBox="1"/>
          <p:nvPr/>
        </p:nvSpPr>
        <p:spPr>
          <a:xfrm>
            <a:off x="2419416" y="3046825"/>
            <a:ext cx="156216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R$ 25,3 milhões</a:t>
            </a:r>
            <a:endParaRPr lang="en-US" sz="1275"/>
          </a:p>
        </p:txBody>
      </p:sp>
      <p:sp>
        <p:nvSpPr>
          <p:cNvPr id="59" name="Shape 53"/>
          <p:cNvSpPr/>
          <p:nvPr/>
        </p:nvSpPr>
        <p:spPr>
          <a:xfrm>
            <a:off x="2419415" y="3467184"/>
            <a:ext cx="205740" cy="205740"/>
          </a:xfrm>
          <a:prstGeom prst="ellipse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 sz="1350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2908" y="3514326"/>
            <a:ext cx="98756" cy="98756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2664396" y="3421145"/>
            <a:ext cx="149221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e validação da solução</a:t>
            </a:r>
            <a:endParaRPr lang="en-US" sz="675"/>
          </a:p>
        </p:txBody>
      </p:sp>
      <p:sp>
        <p:nvSpPr>
          <p:cNvPr id="62" name="Shape 55"/>
          <p:cNvSpPr/>
          <p:nvPr/>
        </p:nvSpPr>
        <p:spPr>
          <a:xfrm>
            <a:off x="6971245" y="2250659"/>
            <a:ext cx="1863917" cy="17736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63" name="Text 56"/>
          <p:cNvSpPr txBox="1"/>
          <p:nvPr/>
        </p:nvSpPr>
        <p:spPr>
          <a:xfrm>
            <a:off x="7122121" y="2283249"/>
            <a:ext cx="156216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2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82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experimentos</a:t>
            </a:r>
            <a:endParaRPr lang="en-US" sz="2250"/>
          </a:p>
        </p:txBody>
      </p:sp>
      <p:sp>
        <p:nvSpPr>
          <p:cNvPr id="64" name="Shape 57"/>
          <p:cNvSpPr/>
          <p:nvPr/>
        </p:nvSpPr>
        <p:spPr>
          <a:xfrm>
            <a:off x="7122121" y="2719935"/>
            <a:ext cx="156216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65" name="Text 58"/>
          <p:cNvSpPr txBox="1"/>
          <p:nvPr/>
        </p:nvSpPr>
        <p:spPr>
          <a:xfrm>
            <a:off x="7122121" y="2772611"/>
            <a:ext cx="156216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potencial</a:t>
            </a:r>
            <a:endParaRPr lang="en-US" sz="713"/>
          </a:p>
        </p:txBody>
      </p:sp>
      <p:sp>
        <p:nvSpPr>
          <p:cNvPr id="66" name="Text 59"/>
          <p:cNvSpPr txBox="1"/>
          <p:nvPr/>
        </p:nvSpPr>
        <p:spPr>
          <a:xfrm>
            <a:off x="7122121" y="2933624"/>
            <a:ext cx="156216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R$ 55,6 milhões</a:t>
            </a:r>
            <a:endParaRPr lang="en-US" sz="1275"/>
          </a:p>
        </p:txBody>
      </p:sp>
      <p:sp>
        <p:nvSpPr>
          <p:cNvPr id="67" name="Shape 60"/>
          <p:cNvSpPr/>
          <p:nvPr/>
        </p:nvSpPr>
        <p:spPr>
          <a:xfrm>
            <a:off x="7122120" y="3465250"/>
            <a:ext cx="205740" cy="205740"/>
          </a:xfrm>
          <a:prstGeom prst="ellipse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 sz="1350"/>
          </a:p>
        </p:txBody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5612" y="3518742"/>
            <a:ext cx="98756" cy="98756"/>
          </a:xfrm>
          <a:prstGeom prst="rect">
            <a:avLst/>
          </a:prstGeom>
        </p:spPr>
      </p:pic>
      <p:sp>
        <p:nvSpPr>
          <p:cNvPr id="69" name="Text 61"/>
          <p:cNvSpPr txBox="1"/>
          <p:nvPr/>
        </p:nvSpPr>
        <p:spPr>
          <a:xfrm>
            <a:off x="7396441" y="3424102"/>
            <a:ext cx="128784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e geração de valor</a:t>
            </a:r>
            <a:endParaRPr lang="en-US" sz="675"/>
          </a:p>
        </p:txBody>
      </p:sp>
      <p:sp>
        <p:nvSpPr>
          <p:cNvPr id="70" name="Shape 62"/>
          <p:cNvSpPr/>
          <p:nvPr/>
        </p:nvSpPr>
        <p:spPr>
          <a:xfrm>
            <a:off x="4228470" y="2250658"/>
            <a:ext cx="2646763" cy="177360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71" name="Text 63"/>
          <p:cNvSpPr txBox="1"/>
          <p:nvPr/>
        </p:nvSpPr>
        <p:spPr>
          <a:xfrm>
            <a:off x="4379346" y="2302751"/>
            <a:ext cx="234501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2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r>
              <a:rPr lang="en-US" sz="82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experimentos</a:t>
            </a:r>
            <a:endParaRPr lang="en-US" sz="2250"/>
          </a:p>
        </p:txBody>
      </p:sp>
      <p:sp>
        <p:nvSpPr>
          <p:cNvPr id="72" name="Shape 64"/>
          <p:cNvSpPr/>
          <p:nvPr/>
        </p:nvSpPr>
        <p:spPr>
          <a:xfrm>
            <a:off x="4379346" y="2708008"/>
            <a:ext cx="234501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76" name="Text 67"/>
          <p:cNvSpPr txBox="1"/>
          <p:nvPr/>
        </p:nvSpPr>
        <p:spPr>
          <a:xfrm>
            <a:off x="4385797" y="2914815"/>
            <a:ext cx="11725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</a:t>
            </a:r>
            <a:r>
              <a:rPr lang="en-US" sz="788" b="1" err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</a:t>
            </a:r>
            <a:r>
              <a:rPr lang="en-US" sz="788" b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88" b="1" err="1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788">
              <a:solidFill>
                <a:srgbClr val="C00000"/>
              </a:solidFill>
            </a:endParaRPr>
          </a:p>
        </p:txBody>
      </p:sp>
      <p:sp>
        <p:nvSpPr>
          <p:cNvPr id="77" name="Text 68"/>
          <p:cNvSpPr txBox="1"/>
          <p:nvPr/>
        </p:nvSpPr>
        <p:spPr>
          <a:xfrm>
            <a:off x="5322242" y="2910884"/>
            <a:ext cx="140700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R$ 26,4 </a:t>
            </a:r>
            <a:r>
              <a:rPr lang="en-US" sz="900" b="1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milhões</a:t>
            </a:r>
            <a:endParaRPr lang="en-US" sz="900"/>
          </a:p>
        </p:txBody>
      </p:sp>
      <p:sp>
        <p:nvSpPr>
          <p:cNvPr id="78" name="Text 69"/>
          <p:cNvSpPr txBox="1"/>
          <p:nvPr/>
        </p:nvSpPr>
        <p:spPr>
          <a:xfrm>
            <a:off x="4385797" y="3101647"/>
            <a:ext cx="11725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em execução</a:t>
            </a:r>
            <a:endParaRPr lang="en-US" sz="788"/>
          </a:p>
        </p:txBody>
      </p:sp>
      <p:sp>
        <p:nvSpPr>
          <p:cNvPr id="79" name="Text 70"/>
          <p:cNvSpPr txBox="1"/>
          <p:nvPr/>
        </p:nvSpPr>
        <p:spPr>
          <a:xfrm>
            <a:off x="5256714" y="3080607"/>
            <a:ext cx="14697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R$ 12,6 milhões</a:t>
            </a:r>
            <a:endParaRPr lang="en-US" sz="900"/>
          </a:p>
        </p:txBody>
      </p:sp>
      <p:sp>
        <p:nvSpPr>
          <p:cNvPr id="80" name="Shape 71"/>
          <p:cNvSpPr/>
          <p:nvPr/>
        </p:nvSpPr>
        <p:spPr>
          <a:xfrm>
            <a:off x="4379345" y="3474894"/>
            <a:ext cx="205740" cy="205740"/>
          </a:xfrm>
          <a:prstGeom prst="ellipse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 sz="1350"/>
          </a:p>
        </p:txBody>
      </p:sp>
      <p:pic>
        <p:nvPicPr>
          <p:cNvPr id="8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739" y="3532085"/>
            <a:ext cx="98756" cy="98756"/>
          </a:xfrm>
          <a:prstGeom prst="rect">
            <a:avLst/>
          </a:prstGeom>
        </p:spPr>
      </p:pic>
      <p:sp>
        <p:nvSpPr>
          <p:cNvPr id="82" name="Text 72"/>
          <p:cNvSpPr txBox="1"/>
          <p:nvPr/>
        </p:nvSpPr>
        <p:spPr>
          <a:xfrm>
            <a:off x="4653666" y="3438852"/>
            <a:ext cx="207069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 execução de pilotos em ambiente real</a:t>
            </a:r>
            <a:endParaRPr lang="en-US" sz="675"/>
          </a:p>
        </p:txBody>
      </p:sp>
      <p:sp>
        <p:nvSpPr>
          <p:cNvPr id="85" name="Text 74"/>
          <p:cNvSpPr txBox="1"/>
          <p:nvPr/>
        </p:nvSpPr>
        <p:spPr>
          <a:xfrm>
            <a:off x="308610" y="4117181"/>
            <a:ext cx="4114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15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MÉTRICAS</a:t>
            </a:r>
            <a:endParaRPr lang="en-US" sz="750"/>
          </a:p>
        </p:txBody>
      </p:sp>
      <p:sp>
        <p:nvSpPr>
          <p:cNvPr id="86" name="Shape 75"/>
          <p:cNvSpPr/>
          <p:nvPr/>
        </p:nvSpPr>
        <p:spPr>
          <a:xfrm>
            <a:off x="308610" y="4309205"/>
            <a:ext cx="2059629" cy="5486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87" name="Shape 76"/>
          <p:cNvSpPr/>
          <p:nvPr/>
        </p:nvSpPr>
        <p:spPr>
          <a:xfrm>
            <a:off x="432054" y="4377785"/>
            <a:ext cx="411480" cy="411480"/>
          </a:xfrm>
          <a:prstGeom prst="blockArc">
            <a:avLst>
              <a:gd name="adj1" fmla="val 10800000"/>
              <a:gd name="adj2" fmla="val 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88" name="Shape 77"/>
          <p:cNvSpPr/>
          <p:nvPr/>
        </p:nvSpPr>
        <p:spPr>
          <a:xfrm>
            <a:off x="432054" y="4377785"/>
            <a:ext cx="411480" cy="411480"/>
          </a:xfrm>
          <a:prstGeom prst="blockArc">
            <a:avLst>
              <a:gd name="adj1" fmla="val 0"/>
              <a:gd name="adj2" fmla="val 1080000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89" name="Shape 78"/>
          <p:cNvSpPr/>
          <p:nvPr/>
        </p:nvSpPr>
        <p:spPr>
          <a:xfrm>
            <a:off x="432054" y="4377785"/>
            <a:ext cx="411480" cy="411480"/>
          </a:xfrm>
          <a:prstGeom prst="blockArc">
            <a:avLst>
              <a:gd name="adj1" fmla="val 16200000"/>
              <a:gd name="adj2" fmla="val 18144000"/>
              <a:gd name="adj3" fmla="val 13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90" name="Text 79"/>
          <p:cNvSpPr txBox="1"/>
          <p:nvPr/>
        </p:nvSpPr>
        <p:spPr>
          <a:xfrm>
            <a:off x="432054" y="437778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900"/>
          </a:p>
        </p:txBody>
      </p:sp>
      <p:sp>
        <p:nvSpPr>
          <p:cNvPr id="91" name="Text 80"/>
          <p:cNvSpPr txBox="1"/>
          <p:nvPr/>
        </p:nvSpPr>
        <p:spPr>
          <a:xfrm>
            <a:off x="953262" y="4398359"/>
            <a:ext cx="13052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para piloto</a:t>
            </a:r>
            <a:endParaRPr lang="en-US" sz="825"/>
          </a:p>
        </p:txBody>
      </p:sp>
      <p:sp>
        <p:nvSpPr>
          <p:cNvPr id="92" name="Text 81"/>
          <p:cNvSpPr txBox="1"/>
          <p:nvPr/>
        </p:nvSpPr>
        <p:spPr>
          <a:xfrm>
            <a:off x="953262" y="4562951"/>
            <a:ext cx="130524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de 210 experimentos aprovados </a:t>
            </a:r>
            <a:r>
              <a:rPr lang="en-US" sz="67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</a:t>
            </a: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7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realizaram</a:t>
            </a: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piloto</a:t>
            </a:r>
            <a:endParaRPr lang="en-US" sz="675"/>
          </a:p>
        </p:txBody>
      </p:sp>
      <p:sp>
        <p:nvSpPr>
          <p:cNvPr id="93" name="Shape 82"/>
          <p:cNvSpPr/>
          <p:nvPr/>
        </p:nvSpPr>
        <p:spPr>
          <a:xfrm>
            <a:off x="2464251" y="4309205"/>
            <a:ext cx="2059629" cy="5486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94" name="Shape 83"/>
          <p:cNvSpPr/>
          <p:nvPr/>
        </p:nvSpPr>
        <p:spPr>
          <a:xfrm>
            <a:off x="2587695" y="4377785"/>
            <a:ext cx="411480" cy="411480"/>
          </a:xfrm>
          <a:prstGeom prst="blockArc">
            <a:avLst>
              <a:gd name="adj1" fmla="val 10800000"/>
              <a:gd name="adj2" fmla="val 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95" name="Shape 84"/>
          <p:cNvSpPr/>
          <p:nvPr/>
        </p:nvSpPr>
        <p:spPr>
          <a:xfrm>
            <a:off x="2587695" y="4377785"/>
            <a:ext cx="411480" cy="411480"/>
          </a:xfrm>
          <a:prstGeom prst="blockArc">
            <a:avLst>
              <a:gd name="adj1" fmla="val 0"/>
              <a:gd name="adj2" fmla="val 1080000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96" name="Shape 85"/>
          <p:cNvSpPr/>
          <p:nvPr/>
        </p:nvSpPr>
        <p:spPr>
          <a:xfrm>
            <a:off x="2587695" y="4377785"/>
            <a:ext cx="411480" cy="411480"/>
          </a:xfrm>
          <a:prstGeom prst="blockArc">
            <a:avLst>
              <a:gd name="adj1" fmla="val 16200000"/>
              <a:gd name="adj2" fmla="val 17712000"/>
              <a:gd name="adj3" fmla="val 13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97" name="Text 86"/>
          <p:cNvSpPr txBox="1"/>
          <p:nvPr/>
        </p:nvSpPr>
        <p:spPr>
          <a:xfrm>
            <a:off x="2587695" y="437778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900"/>
          </a:p>
        </p:txBody>
      </p:sp>
      <p:sp>
        <p:nvSpPr>
          <p:cNvPr id="98" name="Text 87"/>
          <p:cNvSpPr txBox="1"/>
          <p:nvPr/>
        </p:nvSpPr>
        <p:spPr>
          <a:xfrm>
            <a:off x="3108903" y="4398359"/>
            <a:ext cx="13052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para escala</a:t>
            </a:r>
            <a:endParaRPr lang="en-US" sz="825"/>
          </a:p>
        </p:txBody>
      </p:sp>
      <p:sp>
        <p:nvSpPr>
          <p:cNvPr id="99" name="Text 88"/>
          <p:cNvSpPr txBox="1"/>
          <p:nvPr/>
        </p:nvSpPr>
        <p:spPr>
          <a:xfrm>
            <a:off x="3108903" y="4562951"/>
            <a:ext cx="130524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 210 experimentos aprovados já em escala</a:t>
            </a:r>
            <a:endParaRPr lang="en-US" sz="675"/>
          </a:p>
        </p:txBody>
      </p:sp>
      <p:sp>
        <p:nvSpPr>
          <p:cNvPr id="100" name="Shape 89"/>
          <p:cNvSpPr/>
          <p:nvPr/>
        </p:nvSpPr>
        <p:spPr>
          <a:xfrm>
            <a:off x="4619892" y="4309205"/>
            <a:ext cx="2059629" cy="5486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101" name="Shape 90"/>
          <p:cNvSpPr/>
          <p:nvPr/>
        </p:nvSpPr>
        <p:spPr>
          <a:xfrm>
            <a:off x="4743336" y="4377785"/>
            <a:ext cx="411480" cy="411480"/>
          </a:xfrm>
          <a:prstGeom prst="blockArc">
            <a:avLst>
              <a:gd name="adj1" fmla="val 10800000"/>
              <a:gd name="adj2" fmla="val 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02" name="Shape 91"/>
          <p:cNvSpPr/>
          <p:nvPr/>
        </p:nvSpPr>
        <p:spPr>
          <a:xfrm>
            <a:off x="4743336" y="4377785"/>
            <a:ext cx="411480" cy="411480"/>
          </a:xfrm>
          <a:prstGeom prst="blockArc">
            <a:avLst>
              <a:gd name="adj1" fmla="val 0"/>
              <a:gd name="adj2" fmla="val 1080000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03" name="Shape 92"/>
          <p:cNvSpPr/>
          <p:nvPr/>
        </p:nvSpPr>
        <p:spPr>
          <a:xfrm>
            <a:off x="4743336" y="4377785"/>
            <a:ext cx="411480" cy="411480"/>
          </a:xfrm>
          <a:prstGeom prst="blockArc">
            <a:avLst>
              <a:gd name="adj1" fmla="val 16200000"/>
              <a:gd name="adj2" fmla="val 10584000"/>
              <a:gd name="adj3" fmla="val 13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04" name="Text 93"/>
          <p:cNvSpPr txBox="1"/>
          <p:nvPr/>
        </p:nvSpPr>
        <p:spPr>
          <a:xfrm>
            <a:off x="4743336" y="437778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900"/>
          </a:p>
        </p:txBody>
      </p:sp>
      <p:sp>
        <p:nvSpPr>
          <p:cNvPr id="105" name="Text 94"/>
          <p:cNvSpPr txBox="1"/>
          <p:nvPr/>
        </p:nvSpPr>
        <p:spPr>
          <a:xfrm>
            <a:off x="5264544" y="4398359"/>
            <a:ext cx="13052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benefício potencial</a:t>
            </a:r>
            <a:endParaRPr lang="en-US" sz="825"/>
          </a:p>
        </p:txBody>
      </p:sp>
      <p:sp>
        <p:nvSpPr>
          <p:cNvPr id="106" name="Text 95"/>
          <p:cNvSpPr txBox="1"/>
          <p:nvPr/>
        </p:nvSpPr>
        <p:spPr>
          <a:xfrm>
            <a:off x="5264544" y="4562951"/>
            <a:ext cx="130524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experimentos </a:t>
            </a:r>
            <a:r>
              <a:rPr lang="en-US" sz="67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7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67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</a:t>
            </a: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75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</a:t>
            </a:r>
            <a:endParaRPr lang="en-US" sz="675"/>
          </a:p>
        </p:txBody>
      </p:sp>
      <p:sp>
        <p:nvSpPr>
          <p:cNvPr id="107" name="Shape 96"/>
          <p:cNvSpPr/>
          <p:nvPr/>
        </p:nvSpPr>
        <p:spPr>
          <a:xfrm>
            <a:off x="6775532" y="4309205"/>
            <a:ext cx="2059629" cy="5486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 sz="1350"/>
          </a:p>
        </p:txBody>
      </p:sp>
      <p:sp>
        <p:nvSpPr>
          <p:cNvPr id="108" name="Shape 97"/>
          <p:cNvSpPr/>
          <p:nvPr/>
        </p:nvSpPr>
        <p:spPr>
          <a:xfrm>
            <a:off x="6898976" y="4377785"/>
            <a:ext cx="411480" cy="411480"/>
          </a:xfrm>
          <a:prstGeom prst="blockArc">
            <a:avLst>
              <a:gd name="adj1" fmla="val 10800000"/>
              <a:gd name="adj2" fmla="val 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09" name="Shape 98"/>
          <p:cNvSpPr/>
          <p:nvPr/>
        </p:nvSpPr>
        <p:spPr>
          <a:xfrm>
            <a:off x="6898976" y="4377785"/>
            <a:ext cx="411480" cy="411480"/>
          </a:xfrm>
          <a:prstGeom prst="blockArc">
            <a:avLst>
              <a:gd name="adj1" fmla="val 0"/>
              <a:gd name="adj2" fmla="val 10800000"/>
              <a:gd name="adj3" fmla="val 13000"/>
            </a:avLst>
          </a:prstGeom>
          <a:solidFill>
            <a:srgbClr val="EDEDEF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10" name="Shape 99"/>
          <p:cNvSpPr/>
          <p:nvPr/>
        </p:nvSpPr>
        <p:spPr>
          <a:xfrm>
            <a:off x="6898976" y="4377785"/>
            <a:ext cx="411480" cy="411480"/>
          </a:xfrm>
          <a:prstGeom prst="blockArc">
            <a:avLst>
              <a:gd name="adj1" fmla="val 16200000"/>
              <a:gd name="adj2" fmla="val 20736000"/>
              <a:gd name="adj3" fmla="val 13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11" name="Text 100"/>
          <p:cNvSpPr txBox="1"/>
          <p:nvPr/>
        </p:nvSpPr>
        <p:spPr>
          <a:xfrm>
            <a:off x="6898976" y="437778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900"/>
          </a:p>
        </p:txBody>
      </p:sp>
      <p:sp>
        <p:nvSpPr>
          <p:cNvPr id="112" name="Text 101"/>
          <p:cNvSpPr txBox="1"/>
          <p:nvPr/>
        </p:nvSpPr>
        <p:spPr>
          <a:xfrm>
            <a:off x="7420184" y="4398359"/>
            <a:ext cx="13052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patrocínio formal</a:t>
            </a:r>
            <a:endParaRPr lang="en-US" sz="825"/>
          </a:p>
        </p:txBody>
      </p:sp>
      <p:sp>
        <p:nvSpPr>
          <p:cNvPr id="113" name="Text 102"/>
          <p:cNvSpPr txBox="1"/>
          <p:nvPr/>
        </p:nvSpPr>
        <p:spPr>
          <a:xfrm>
            <a:off x="7420184" y="4562951"/>
            <a:ext cx="130524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675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experimentos sem patrocínio formal da diretoria</a:t>
            </a:r>
            <a:endParaRPr lang="en-US" sz="675"/>
          </a:p>
        </p:txBody>
      </p: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25492EF3-53F6-DA27-1F3B-2AEC843AC37C}"/>
              </a:ext>
            </a:extLst>
          </p:cNvPr>
          <p:cNvGrpSpPr/>
          <p:nvPr/>
        </p:nvGrpSpPr>
        <p:grpSpPr>
          <a:xfrm>
            <a:off x="4464299" y="3293560"/>
            <a:ext cx="2325980" cy="192022"/>
            <a:chOff x="4398377" y="3178146"/>
            <a:chExt cx="2325980" cy="192024"/>
          </a:xfrm>
        </p:grpSpPr>
        <p:sp>
          <p:nvSpPr>
            <p:cNvPr id="73" name="Shape 65"/>
            <p:cNvSpPr/>
            <p:nvPr/>
          </p:nvSpPr>
          <p:spPr>
            <a:xfrm>
              <a:off x="4398377" y="3216125"/>
              <a:ext cx="2325980" cy="1126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/>
          </p:spPr>
          <p:txBody>
            <a:bodyPr/>
            <a:lstStyle/>
            <a:p>
              <a:endParaRPr lang="pt-BR" sz="1100"/>
            </a:p>
          </p:txBody>
        </p:sp>
        <p:pic>
          <p:nvPicPr>
            <p:cNvPr id="74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18377" y="3231190"/>
              <a:ext cx="78882" cy="78883"/>
            </a:xfrm>
            <a:prstGeom prst="rect">
              <a:avLst/>
            </a:prstGeom>
          </p:spPr>
        </p:pic>
        <p:sp>
          <p:nvSpPr>
            <p:cNvPr id="75" name="Text 66"/>
            <p:cNvSpPr txBox="1"/>
            <p:nvPr/>
          </p:nvSpPr>
          <p:spPr>
            <a:xfrm>
              <a:off x="4645265" y="3178146"/>
              <a:ext cx="425195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00" b="1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Outlier</a:t>
              </a:r>
              <a:endParaRPr lang="en-US" sz="500"/>
            </a:p>
          </p:txBody>
        </p:sp>
        <p:sp>
          <p:nvSpPr>
            <p:cNvPr id="115" name="Text 51">
              <a:extLst>
                <a:ext uri="{FF2B5EF4-FFF2-40B4-BE49-F238E27FC236}">
                  <a16:creationId xmlns:a16="http://schemas.microsoft.com/office/drawing/2014/main" id="{08123BFF-F16B-262A-DC27-1B293EB3E08F}"/>
                </a:ext>
              </a:extLst>
            </p:cNvPr>
            <p:cNvSpPr txBox="1"/>
            <p:nvPr/>
          </p:nvSpPr>
          <p:spPr>
            <a:xfrm>
              <a:off x="5006409" y="3183607"/>
              <a:ext cx="1562165" cy="1508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00" b="1" err="1"/>
                <a:t>Integridade</a:t>
              </a:r>
              <a:r>
                <a:rPr lang="en-US" sz="600" b="1"/>
                <a:t> do </a:t>
              </a:r>
              <a:r>
                <a:rPr lang="en-US" sz="600" b="1" err="1"/>
                <a:t>Produto</a:t>
              </a:r>
              <a:r>
                <a:rPr lang="en-US" sz="600" b="1"/>
                <a:t> 254 </a:t>
              </a:r>
              <a:r>
                <a:rPr lang="en-US" sz="600" b="1" err="1"/>
                <a:t>milhões</a:t>
              </a:r>
              <a:endParaRPr lang="en-US" sz="600" b="1"/>
            </a:p>
          </p:txBody>
        </p:sp>
      </p:grpSp>
      <p:sp>
        <p:nvSpPr>
          <p:cNvPr id="118" name="Retângulo: Cantos Arredondados 117">
            <a:hlinkClick r:id="rId11"/>
            <a:extLst>
              <a:ext uri="{FF2B5EF4-FFF2-40B4-BE49-F238E27FC236}">
                <a16:creationId xmlns:a16="http://schemas.microsoft.com/office/drawing/2014/main" id="{F9080494-6636-A978-E52F-FC93B442EC27}"/>
              </a:ext>
            </a:extLst>
          </p:cNvPr>
          <p:cNvSpPr/>
          <p:nvPr/>
        </p:nvSpPr>
        <p:spPr>
          <a:xfrm>
            <a:off x="464078" y="3785175"/>
            <a:ext cx="1576219" cy="150876"/>
          </a:xfrm>
          <a:prstGeom prst="roundRect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C00000"/>
                </a:solidFill>
              </a:rPr>
              <a:t>DETALHES</a:t>
            </a:r>
            <a:endParaRPr lang="pt-BR" sz="1000" b="1">
              <a:solidFill>
                <a:srgbClr val="C00000"/>
              </a:solidFill>
            </a:endParaRPr>
          </a:p>
        </p:txBody>
      </p:sp>
      <p:sp>
        <p:nvSpPr>
          <p:cNvPr id="121" name="Retângulo: Cantos Arredondados 120">
            <a:hlinkClick r:id="rId12"/>
            <a:extLst>
              <a:ext uri="{FF2B5EF4-FFF2-40B4-BE49-F238E27FC236}">
                <a16:creationId xmlns:a16="http://schemas.microsoft.com/office/drawing/2014/main" id="{9E21CBC5-4FDF-B2A9-8D3F-FF32089CD530}"/>
              </a:ext>
            </a:extLst>
          </p:cNvPr>
          <p:cNvSpPr/>
          <p:nvPr/>
        </p:nvSpPr>
        <p:spPr>
          <a:xfrm>
            <a:off x="2420827" y="3782555"/>
            <a:ext cx="1576219" cy="150876"/>
          </a:xfrm>
          <a:prstGeom prst="roundRect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C00000"/>
                </a:solidFill>
              </a:rPr>
              <a:t>DETALHES</a:t>
            </a:r>
            <a:endParaRPr lang="pt-BR" sz="1000" b="1">
              <a:solidFill>
                <a:srgbClr val="C00000"/>
              </a:solidFill>
            </a:endParaRPr>
          </a:p>
        </p:txBody>
      </p:sp>
      <p:sp>
        <p:nvSpPr>
          <p:cNvPr id="124" name="Retângulo: Cantos Arredondados 123">
            <a:hlinkClick r:id="rId13"/>
            <a:extLst>
              <a:ext uri="{FF2B5EF4-FFF2-40B4-BE49-F238E27FC236}">
                <a16:creationId xmlns:a16="http://schemas.microsoft.com/office/drawing/2014/main" id="{7AE485F1-D171-C30F-909B-AF1D865F1958}"/>
              </a:ext>
            </a:extLst>
          </p:cNvPr>
          <p:cNvSpPr/>
          <p:nvPr/>
        </p:nvSpPr>
        <p:spPr>
          <a:xfrm>
            <a:off x="4832334" y="3778853"/>
            <a:ext cx="1576219" cy="150876"/>
          </a:xfrm>
          <a:prstGeom prst="roundRect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C00000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DETALHES</a:t>
            </a:r>
            <a:endParaRPr lang="pt-BR" sz="1000" b="1">
              <a:solidFill>
                <a:srgbClr val="C00000"/>
              </a:solidFill>
            </a:endParaRP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987574AE-16A6-89B5-1EB0-768F4796A4DF}"/>
              </a:ext>
            </a:extLst>
          </p:cNvPr>
          <p:cNvSpPr/>
          <p:nvPr/>
        </p:nvSpPr>
        <p:spPr>
          <a:xfrm>
            <a:off x="7160710" y="3773861"/>
            <a:ext cx="1576219" cy="150876"/>
          </a:xfrm>
          <a:prstGeom prst="roundRect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>
                <a:solidFill>
                  <a:srgbClr val="C00000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DETALHES</a:t>
            </a:r>
            <a:endParaRPr lang="pt-BR" sz="1000" b="1">
              <a:solidFill>
                <a:srgbClr val="C00000"/>
              </a:solidFill>
            </a:endParaRPr>
          </a:p>
        </p:txBody>
      </p:sp>
      <p:sp>
        <p:nvSpPr>
          <p:cNvPr id="130" name="Text 51">
            <a:extLst>
              <a:ext uri="{FF2B5EF4-FFF2-40B4-BE49-F238E27FC236}">
                <a16:creationId xmlns:a16="http://schemas.microsoft.com/office/drawing/2014/main" id="{574E20F9-EBED-F471-683D-0DDD554CEA52}"/>
              </a:ext>
            </a:extLst>
          </p:cNvPr>
          <p:cNvSpPr txBox="1"/>
          <p:nvPr/>
        </p:nvSpPr>
        <p:spPr>
          <a:xfrm>
            <a:off x="4387916" y="2763615"/>
            <a:ext cx="156216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potencial</a:t>
            </a:r>
            <a:endParaRPr lang="en-US" sz="713"/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81BBBBD0-A78E-699A-49F2-3F7C616E2579}"/>
              </a:ext>
            </a:extLst>
          </p:cNvPr>
          <p:cNvSpPr txBox="1"/>
          <p:nvPr/>
        </p:nvSpPr>
        <p:spPr>
          <a:xfrm>
            <a:off x="1836045" y="381000"/>
            <a:ext cx="1501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/>
              <a:t>até set/26</a:t>
            </a:r>
          </a:p>
        </p:txBody>
      </p:sp>
      <p:sp>
        <p:nvSpPr>
          <p:cNvPr id="19" name="Composicao 5">
            <a:extLst>
              <a:ext uri="{FF2B5EF4-FFF2-40B4-BE49-F238E27FC236}">
                <a16:creationId xmlns:a16="http://schemas.microsoft.com/office/drawing/2014/main" id="{6B3E5943-E4AE-108B-9E64-25E0433F73F0}"/>
              </a:ext>
            </a:extLst>
          </p:cNvPr>
          <p:cNvSpPr txBox="1"/>
          <p:nvPr/>
        </p:nvSpPr>
        <p:spPr>
          <a:xfrm>
            <a:off x="2287014" y="751836"/>
            <a:ext cx="508984" cy="2715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r>
              <a:rPr lang="en-US" sz="8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4%</a:t>
            </a:r>
            <a:endParaRPr lang="en-US"/>
          </a:p>
        </p:txBody>
      </p:sp>
      <p:sp>
        <p:nvSpPr>
          <p:cNvPr id="21" name="Composicao 6">
            <a:extLst>
              <a:ext uri="{FF2B5EF4-FFF2-40B4-BE49-F238E27FC236}">
                <a16:creationId xmlns:a16="http://schemas.microsoft.com/office/drawing/2014/main" id="{B97BE640-E35D-868A-3C1D-46F5F1361088}"/>
              </a:ext>
            </a:extLst>
          </p:cNvPr>
          <p:cNvSpPr txBox="1"/>
          <p:nvPr/>
        </p:nvSpPr>
        <p:spPr>
          <a:xfrm>
            <a:off x="2215103" y="1028041"/>
            <a:ext cx="7147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Em </a:t>
            </a:r>
            <a:r>
              <a:rPr lang="en-US" sz="700" err="1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Exploração</a:t>
            </a:r>
            <a:endParaRPr lang="en-US" sz="700"/>
          </a:p>
        </p:txBody>
      </p:sp>
      <p:sp>
        <p:nvSpPr>
          <p:cNvPr id="29" name="Composicao 7">
            <a:extLst>
              <a:ext uri="{FF2B5EF4-FFF2-40B4-BE49-F238E27FC236}">
                <a16:creationId xmlns:a16="http://schemas.microsoft.com/office/drawing/2014/main" id="{D2F60274-310B-F5D5-DB22-B92DED4ABCBD}"/>
              </a:ext>
            </a:extLst>
          </p:cNvPr>
          <p:cNvSpPr/>
          <p:nvPr/>
        </p:nvSpPr>
        <p:spPr>
          <a:xfrm>
            <a:off x="2116940" y="837013"/>
            <a:ext cx="89154" cy="89154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19" name="Composicao 16">
            <a:extLst>
              <a:ext uri="{FF2B5EF4-FFF2-40B4-BE49-F238E27FC236}">
                <a16:creationId xmlns:a16="http://schemas.microsoft.com/office/drawing/2014/main" id="{CBA67A14-414F-D740-0150-9D0D5A06836D}"/>
              </a:ext>
            </a:extLst>
          </p:cNvPr>
          <p:cNvSpPr/>
          <p:nvPr/>
        </p:nvSpPr>
        <p:spPr>
          <a:xfrm>
            <a:off x="2182270" y="1235665"/>
            <a:ext cx="720000" cy="6858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pt-BR" sz="1350"/>
          </a:p>
        </p:txBody>
      </p:sp>
      <p:sp>
        <p:nvSpPr>
          <p:cNvPr id="11" name="Composicao 15">
            <a:extLst>
              <a:ext uri="{FF2B5EF4-FFF2-40B4-BE49-F238E27FC236}">
                <a16:creationId xmlns:a16="http://schemas.microsoft.com/office/drawing/2014/main" id="{023A1E8D-069F-D25F-2FAE-7E03395AB475}"/>
              </a:ext>
            </a:extLst>
          </p:cNvPr>
          <p:cNvSpPr txBox="1"/>
          <p:nvPr/>
        </p:nvSpPr>
        <p:spPr>
          <a:xfrm>
            <a:off x="3959754" y="1043303"/>
            <a:ext cx="875224" cy="17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err="1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Hipóteses</a:t>
            </a:r>
            <a:r>
              <a:rPr lang="en-US" sz="75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 validadas</a:t>
            </a:r>
            <a:endParaRPr lang="en-US" sz="750"/>
          </a:p>
        </p:txBody>
      </p:sp>
      <p:sp>
        <p:nvSpPr>
          <p:cNvPr id="12" name="Composicao 13">
            <a:extLst>
              <a:ext uri="{FF2B5EF4-FFF2-40B4-BE49-F238E27FC236}">
                <a16:creationId xmlns:a16="http://schemas.microsoft.com/office/drawing/2014/main" id="{B6F60A15-A554-ABED-E7D2-B6BFA2F4B01A}"/>
              </a:ext>
            </a:extLst>
          </p:cNvPr>
          <p:cNvSpPr/>
          <p:nvPr/>
        </p:nvSpPr>
        <p:spPr>
          <a:xfrm>
            <a:off x="6079039" y="850330"/>
            <a:ext cx="89154" cy="89154"/>
          </a:xfrm>
          <a:prstGeom prst="ellipse">
            <a:avLst/>
          </a:prstGeom>
          <a:solidFill>
            <a:srgbClr val="6B0000"/>
          </a:solidFill>
          <a:ln/>
        </p:spPr>
        <p:txBody>
          <a:bodyPr/>
          <a:lstStyle/>
          <a:p>
            <a:endParaRPr lang="pt-BR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809A0A-3CB4-49CC-8F74-38A9A678D99E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D2AB8A059EC34287B62A38A7CF2FAD" ma:contentTypeVersion="20" ma:contentTypeDescription="Crie um novo documento." ma:contentTypeScope="" ma:versionID="ae4149d01e9a24b5942301ea20f5c4fe">
  <xsd:schema xmlns:xsd="http://www.w3.org/2001/XMLSchema" xmlns:xs="http://www.w3.org/2001/XMLSchema" xmlns:p="http://schemas.microsoft.com/office/2006/metadata/properties" xmlns:ns2="e19d64ae-5a93-4a71-9aa3-9ee12a72bc66" xmlns:ns3="be789a08-c2ad-465e-b9dc-307e85f686d8" targetNamespace="http://schemas.microsoft.com/office/2006/metadata/properties" ma:root="true" ma:fieldsID="a83f4ffeedd2b23ca75a440a460a82dd" ns2:_="" ns3:_="">
    <xsd:import namespace="e19d64ae-5a93-4a71-9aa3-9ee12a72bc66"/>
    <xsd:import namespace="be789a08-c2ad-465e-b9dc-307e85f686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d64ae-5a93-4a71-9aa3-9ee12a72b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Flow_SignoffStatus" ma:index="21" nillable="true" ma:displayName="Status de liberação" ma:internalName="Status_x0020_de_x0020_libera_x00e7__x00e3_o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c8a3b58-1317-4067-bbdf-e53778bd94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789a08-c2ad-465e-b9dc-307e85f686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148419bc-2a04-4aa7-b202-3e47ee67faa4}" ma:internalName="TaxCatchAll" ma:showField="CatchAllData" ma:web="be789a08-c2ad-465e-b9dc-307e85f686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e19d64ae-5a93-4a71-9aa3-9ee12a72bc66" xsi:nil="true"/>
    <lcf76f155ced4ddcb4097134ff3c332f xmlns="e19d64ae-5a93-4a71-9aa3-9ee12a72bc66">
      <Terms xmlns="http://schemas.microsoft.com/office/infopath/2007/PartnerControls"/>
    </lcf76f155ced4ddcb4097134ff3c332f>
    <TaxCatchAll xmlns="be789a08-c2ad-465e-b9dc-307e85f686d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B4D0E7-4E22-4843-885B-0987CF43EF52}">
  <ds:schemaRefs>
    <ds:schemaRef ds:uri="be789a08-c2ad-465e-b9dc-307e85f686d8"/>
    <ds:schemaRef ds:uri="e19d64ae-5a93-4a71-9aa3-9ee12a72bc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058B928-F943-4496-A106-88998FFF6EC5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e19d64ae-5a93-4a71-9aa3-9ee12a72bc66"/>
    <ds:schemaRef ds:uri="http://purl.org/dc/terms/"/>
    <ds:schemaRef ds:uri="be789a08-c2ad-465e-b9dc-307e85f686d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78FB438-3CD1-4314-975C-434D27194A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4727</Words>
  <Application>Microsoft Office PowerPoint</Application>
  <PresentationFormat>Personalizar</PresentationFormat>
  <Paragraphs>1007</Paragraphs>
  <Slides>22</Slides>
  <Notes>10</Notes>
  <HiddenSlides>2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AMX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DA ANUNCIACAO FRANCA LEITE</cp:lastModifiedBy>
  <cp:revision>1</cp:revision>
  <dcterms:created xsi:type="dcterms:W3CDTF">2013-01-27T09:14:16Z</dcterms:created>
  <dcterms:modified xsi:type="dcterms:W3CDTF">2026-10-02T20:18:00Z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0x0101003BD2AB8A059EC34287B62A38A7CF2FAD</vt:lpwstr>
  </property>
  <property fmtid="{D5CDD505-2E9C-101B-9397-08002B2CF9AE}" pid="3" name="MediaServiceImageTags">
    <vt:lpwstr/>
  </property>
</Properties>
</file>